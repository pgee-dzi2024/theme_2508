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2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dmin" initials="A" lastIdx="1" clrIdx="0">
    <p:extLst>
      <p:ext uri="{19B8F6BF-5375-455C-9EA6-DF929625EA0E}">
        <p15:presenceInfo xmlns:p15="http://schemas.microsoft.com/office/powerpoint/2012/main" userId="Admin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717" autoAdjust="0"/>
  </p:normalViewPr>
  <p:slideViewPr>
    <p:cSldViewPr snapToGrid="0">
      <p:cViewPr varScale="1">
        <p:scale>
          <a:sx n="83" d="100"/>
          <a:sy n="83" d="100"/>
        </p:scale>
        <p:origin x="686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A7AC966-8BEE-4CAC-9D5B-6621CFB65C26}" type="datetimeFigureOut">
              <a:rPr lang="bg-BG" smtClean="0"/>
              <a:t>13.5.2025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3C9E35-DB9A-436C-8DE0-D3E82DBFC18A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6625221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3C9E35-DB9A-436C-8DE0-D3E82DBFC18A}" type="slidenum">
              <a:rPr lang="bg-BG" smtClean="0"/>
              <a:t>8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2559497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5B11F235-42AF-49D3-AEEC-F57B10BE23B5}" type="datetimeFigureOut">
              <a:rPr lang="bg-BG" smtClean="0"/>
              <a:t>13.5.2025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4653510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1F235-42AF-49D3-AEEC-F57B10BE23B5}" type="datetimeFigureOut">
              <a:rPr lang="bg-BG" smtClean="0"/>
              <a:t>13.5.2025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669588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1F235-42AF-49D3-AEEC-F57B10BE23B5}" type="datetimeFigureOut">
              <a:rPr lang="bg-BG" smtClean="0"/>
              <a:t>13.5.2025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821097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1F235-42AF-49D3-AEEC-F57B10BE23B5}" type="datetimeFigureOut">
              <a:rPr lang="bg-BG" smtClean="0"/>
              <a:t>13.5.2025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7571058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1F235-42AF-49D3-AEEC-F57B10BE23B5}" type="datetimeFigureOut">
              <a:rPr lang="bg-BG" smtClean="0"/>
              <a:t>13.5.2025 г.</a:t>
            </a:fld>
            <a:endParaRPr lang="bg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4790272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1F235-42AF-49D3-AEEC-F57B10BE23B5}" type="datetimeFigureOut">
              <a:rPr lang="bg-BG" smtClean="0"/>
              <a:t>13.5.2025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8798924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1F235-42AF-49D3-AEEC-F57B10BE23B5}" type="datetimeFigureOut">
              <a:rPr lang="bg-BG" smtClean="0"/>
              <a:t>13.5.2025 г.</a:t>
            </a:fld>
            <a:endParaRPr lang="bg-B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2127552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1F235-42AF-49D3-AEEC-F57B10BE23B5}" type="datetimeFigureOut">
              <a:rPr lang="bg-BG" smtClean="0"/>
              <a:t>13.5.2025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5818391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1F235-42AF-49D3-AEEC-F57B10BE23B5}" type="datetimeFigureOut">
              <a:rPr lang="bg-BG" smtClean="0"/>
              <a:t>13.5.2025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941083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1F235-42AF-49D3-AEEC-F57B10BE23B5}" type="datetimeFigureOut">
              <a:rPr lang="bg-BG" smtClean="0"/>
              <a:t>13.5.2025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59167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1F235-42AF-49D3-AEEC-F57B10BE23B5}" type="datetimeFigureOut">
              <a:rPr lang="bg-BG" smtClean="0"/>
              <a:t>13.5.2025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9981556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1F235-42AF-49D3-AEEC-F57B10BE23B5}" type="datetimeFigureOut">
              <a:rPr lang="bg-BG" smtClean="0"/>
              <a:t>13.5.2025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2238488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1F235-42AF-49D3-AEEC-F57B10BE23B5}" type="datetimeFigureOut">
              <a:rPr lang="bg-BG" smtClean="0"/>
              <a:t>13.5.2025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2204975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1F235-42AF-49D3-AEEC-F57B10BE23B5}" type="datetimeFigureOut">
              <a:rPr lang="bg-BG" smtClean="0"/>
              <a:t>13.5.2025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6172790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1F235-42AF-49D3-AEEC-F57B10BE23B5}" type="datetimeFigureOut">
              <a:rPr lang="bg-BG" smtClean="0"/>
              <a:t>13.5.2025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5743006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1F235-42AF-49D3-AEEC-F57B10BE23B5}" type="datetimeFigureOut">
              <a:rPr lang="bg-BG" smtClean="0"/>
              <a:t>13.5.2025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67975549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1F235-42AF-49D3-AEEC-F57B10BE23B5}" type="datetimeFigureOut">
              <a:rPr lang="bg-BG" smtClean="0"/>
              <a:t>13.5.2025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0158086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11F235-42AF-49D3-AEEC-F57B10BE23B5}" type="datetimeFigureOut">
              <a:rPr lang="bg-BG" smtClean="0"/>
              <a:t>13.5.2025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75374059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  <p:sldLayoutId id="2147483707" r:id="rId5"/>
    <p:sldLayoutId id="2147483708" r:id="rId6"/>
    <p:sldLayoutId id="2147483709" r:id="rId7"/>
    <p:sldLayoutId id="2147483710" r:id="rId8"/>
    <p:sldLayoutId id="2147483711" r:id="rId9"/>
    <p:sldLayoutId id="2147483712" r:id="rId10"/>
    <p:sldLayoutId id="2147483713" r:id="rId11"/>
    <p:sldLayoutId id="2147483714" r:id="rId12"/>
    <p:sldLayoutId id="2147483715" r:id="rId13"/>
    <p:sldLayoutId id="2147483716" r:id="rId14"/>
    <p:sldLayoutId id="2147483717" r:id="rId15"/>
    <p:sldLayoutId id="2147483718" r:id="rId16"/>
    <p:sldLayoutId id="214748371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ru-RU" sz="1800" dirty="0" smtClean="0"/>
              <a:t>ДЪРЖАВЕН ИЗПИТ ЗА ПРИДОБИВАНЕ НА ТРЕТА СТЕПЕН НА ПРОФЕСИОНАЛНА КВАЛИФИКАЦИЯ – ЧАСТ ПО ТЕОРИЯ НА ПРОФЕСИЯТА</a:t>
            </a:r>
            <a:br>
              <a:rPr lang="ru-RU" sz="1800" dirty="0" smtClean="0"/>
            </a:br>
            <a:r>
              <a:rPr lang="ru-RU" sz="1800" dirty="0" smtClean="0"/>
              <a:t/>
            </a:r>
            <a:br>
              <a:rPr lang="ru-RU" sz="1800" dirty="0" smtClean="0"/>
            </a:br>
            <a:r>
              <a:rPr lang="ru-RU" sz="1800" dirty="0" smtClean="0"/>
              <a:t>по професия код 481030   „Приложен програмист“</a:t>
            </a:r>
            <a:br>
              <a:rPr lang="ru-RU" sz="1800" dirty="0" smtClean="0"/>
            </a:br>
            <a:r>
              <a:rPr lang="ru-RU" sz="1800" dirty="0" smtClean="0"/>
              <a:t>специалност код код 4810301  „Приоложно програмиране“</a:t>
            </a:r>
            <a:r>
              <a:rPr lang="ru-RU" dirty="0" smtClean="0"/>
              <a:t/>
            </a:r>
            <a:br>
              <a:rPr lang="ru-RU" dirty="0" smtClean="0"/>
            </a:br>
            <a:r>
              <a:rPr lang="ru-RU" dirty="0" smtClean="0"/>
              <a:t/>
            </a:r>
            <a:br>
              <a:rPr lang="ru-RU" dirty="0" smtClean="0"/>
            </a:br>
            <a:endParaRPr lang="bg-BG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80160" y="3602038"/>
            <a:ext cx="9387839" cy="1536019"/>
          </a:xfrm>
        </p:spPr>
        <p:txBody>
          <a:bodyPr>
            <a:normAutofit/>
          </a:bodyPr>
          <a:lstStyle/>
          <a:p>
            <a:r>
              <a:rPr lang="ru-RU" dirty="0" smtClean="0">
                <a:solidFill>
                  <a:schemeClr val="tx1"/>
                </a:solidFill>
              </a:rPr>
              <a:t>Тема: Качване и конфигуриране на уеб приложение върху реален сървър</a:t>
            </a:r>
          </a:p>
          <a:p>
            <a:pPr algn="l"/>
            <a:endParaRPr lang="ru-RU" dirty="0" smtClean="0">
              <a:solidFill>
                <a:schemeClr val="tx1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445829" y="5686697"/>
            <a:ext cx="38840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dirty="0" smtClean="0"/>
              <a:t>Дипломант: Георги Малинов Бистрин</a:t>
            </a:r>
            <a:endParaRPr lang="bg-BG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086" y="439552"/>
            <a:ext cx="738074" cy="972521"/>
          </a:xfrm>
          <a:prstGeom prst="rect">
            <a:avLst/>
          </a:prstGeom>
          <a:ln w="8890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</p:spTree>
    <p:extLst>
      <p:ext uri="{BB962C8B-B14F-4D97-AF65-F5344CB8AC3E}">
        <p14:creationId xmlns:p14="http://schemas.microsoft.com/office/powerpoint/2010/main" val="33675834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bg-BG" sz="2000" dirty="0"/>
              <a:t>Въведение и цел на проекта</a:t>
            </a:r>
            <a:br>
              <a:rPr lang="bg-BG" sz="2000" dirty="0"/>
            </a:br>
            <a:r>
              <a:rPr lang="bg-BG" sz="2000" dirty="0"/>
              <a:t/>
            </a:r>
            <a:br>
              <a:rPr lang="bg-BG" sz="2000" dirty="0"/>
            </a:br>
            <a:endParaRPr lang="bg-BG" sz="20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bg-BG" dirty="0"/>
              <a:t>Проектът цели изграждането на надеждна сървърна среда за деплой на уеб приложение. Основната мотивация е необходимостта от практическо овладяване на съвременни технологии и методи, които да осигурят стабилност, сигурност и лесна поддръжка при работа с уеб приложения и техните сървъри.</a:t>
            </a:r>
            <a:br>
              <a:rPr lang="bg-BG" dirty="0"/>
            </a:b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0607886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bg-BG" dirty="0"/>
              <a:t>Исторически преглед и значимост на уеб технологиите</a:t>
            </a:r>
            <a:endParaRPr lang="bg-BG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156200" y="963465"/>
            <a:ext cx="5891213" cy="4456407"/>
          </a:xfrm>
          <a:prstGeom prst="rect">
            <a:avLst/>
          </a:prstGeom>
        </p:spPr>
      </p:pic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bg-BG" dirty="0"/>
              <a:t>Във встъпителната теория се разглежда развитието на интернет и уеб технологиите — от първите уеб сървъри и статични страници до съвременните динамични уеб приложения. Тук се подчертава ролята на операционните системи и софтуерните решения с отворен код, които помагат за тяхното усъвършенстване и масово приложение.</a:t>
            </a:r>
          </a:p>
          <a:p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20723064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bg-BG" dirty="0"/>
              <a:t>Избор и характеристика на операционна система Ubuntu Server</a:t>
            </a:r>
            <a:endParaRPr lang="bg-BG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168950" y="1254034"/>
            <a:ext cx="5133703" cy="3391657"/>
          </a:xfrm>
          <a:prstGeom prst="rect">
            <a:avLst/>
          </a:prstGeom>
        </p:spPr>
      </p:pic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bg-BG" dirty="0"/>
              <a:t>Ubuntu Server е избран поради своята стабилност, лесна интеграция, добра документация и широка общност. Тази ОС осигурява визия за надеждна и поддържана сървърна платформа, върху която могат да се изпълняват уеб сървъри и бази данни, оптимизирана е за работа през команден ред и поддържа автентичност и сигурност.</a:t>
            </a:r>
          </a:p>
          <a:p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33397554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Уеб сървър Nginx и WSGI сървър Gunicorn</a:t>
            </a:r>
            <a:endParaRPr lang="bg-BG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9115101" cy="615634"/>
          </a:xfrm>
        </p:spPr>
        <p:txBody>
          <a:bodyPr>
            <a:noAutofit/>
          </a:bodyPr>
          <a:lstStyle/>
          <a:p>
            <a:r>
              <a:rPr lang="bg-BG" sz="1300" dirty="0"/>
              <a:t>Nginx играе ролята на обратен прокси и уеб сървър, който обслужва заявки ефективно и с минимално натоварване на сървъра. Gunicorn е WSGI сървър, който осигурява интерфейс между Python уеб приложението (Django) и уеб сървъра. Този двоен модел подобрява производителността, позволява асинхронна обработка и гъвкавост при настройките за натоварване.</a:t>
            </a:r>
          </a:p>
          <a:p>
            <a:endParaRPr lang="bg-BG" sz="1300" dirty="0"/>
          </a:p>
        </p:txBody>
      </p:sp>
      <p:pic>
        <p:nvPicPr>
          <p:cNvPr id="10" name="Content Placeholder 9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1449382" y="3073400"/>
            <a:ext cx="4262448" cy="2717800"/>
          </a:xfrm>
          <a:prstGeom prst="rect">
            <a:avLst/>
          </a:prstGeom>
        </p:spPr>
      </p:pic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bg-BG" dirty="0"/>
          </a:p>
        </p:txBody>
      </p:sp>
      <p:pic>
        <p:nvPicPr>
          <p:cNvPr id="9" name="Content Placeholder 8"/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172200" y="3108321"/>
            <a:ext cx="4875213" cy="26479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9730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bg-BG" dirty="0"/>
              <a:t>Използване на Python и Django за създаване на приложението</a:t>
            </a:r>
            <a:br>
              <a:rPr lang="bg-BG" dirty="0"/>
            </a:br>
            <a:endParaRPr lang="bg-BG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bg-BG" dirty="0"/>
              <a:t>Python е избран като език със своята ясна синтактична структура и мощни библиотеки. Django е рамка, поддържаща MVC архитектура, която осигурява отделяне на логиката, дизайна и данните. Това прави приложението по-лесно за разработка, поддръжка и разширяване, като същевременно осигурява набор от вградени функционалности като аутентификация, админ панел и ORM.</a:t>
            </a:r>
          </a:p>
          <a:p>
            <a:endParaRPr lang="bg-BG" dirty="0"/>
          </a:p>
        </p:txBody>
      </p:sp>
      <p:pic>
        <p:nvPicPr>
          <p:cNvPr id="5" name="Picture Placeholder 4"/>
          <p:cNvPicPr>
            <a:picLocks noGrp="1"/>
          </p:cNvPicPr>
          <p:nvPr>
            <p:ph type="pic" idx="1"/>
          </p:nvPr>
        </p:nvPicPr>
        <p:blipFill>
          <a:blip r:embed="rId2"/>
          <a:srcRect l="28073" r="28073"/>
          <a:stretch>
            <a:fillRect/>
          </a:stretch>
        </p:blipFill>
        <p:spPr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759425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bg-BG" sz="2700" dirty="0"/>
              <a:t>Система за управление на бази данни MySQL и инструмент phpMyAdmin</a:t>
            </a:r>
            <a:r>
              <a:rPr lang="bg-BG" dirty="0"/>
              <a:t/>
            </a:r>
            <a:br>
              <a:rPr lang="bg-BG" dirty="0"/>
            </a:br>
            <a:endParaRPr lang="bg-BG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169375" y="365759"/>
            <a:ext cx="6116933" cy="5549632"/>
          </a:xfrm>
          <a:prstGeom prst="rect">
            <a:avLst/>
          </a:prstGeom>
        </p:spPr>
      </p:pic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bg-BG" dirty="0"/>
              <a:t>MySQL предоставя структурирана и надеждна база за съхранение и извличане на данни, необходима за функционирането на приложението. PhpMyAdmin е графичен уеб интерфейс, който улеснява администрирането на базата данни, позволява лесно управление на таблици, потребители и резервни копия, което е важно за практическото управление на сървърната среда.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35291347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bg-BG" sz="2700" dirty="0"/>
              <a:t>Процес на инсталация, конфигурация и деплой на приложението</a:t>
            </a:r>
            <a:r>
              <a:rPr lang="bg-BG" dirty="0"/>
              <a:t/>
            </a:r>
            <a:br>
              <a:rPr lang="bg-BG" dirty="0"/>
            </a:br>
            <a:endParaRPr lang="bg-BG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5156200" y="1669523"/>
            <a:ext cx="5891213" cy="3044292"/>
          </a:xfrm>
          <a:prstGeom prst="rect">
            <a:avLst/>
          </a:prstGeom>
        </p:spPr>
      </p:pic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>
            <a:normAutofit lnSpcReduction="10000"/>
          </a:bodyPr>
          <a:lstStyle/>
          <a:p>
            <a:r>
              <a:rPr lang="bg-BG" dirty="0"/>
              <a:t>Подробно се описва процесът от инсталиране на Ubuntu Server, през настройка на Nginx като прокси сървър, инсталиране и конфигуриране на Gunicorn за стартиране на Django приложението, до създаване на базата данни и настройка на phpMyAdmin. Също така е разгледано създаването на виртуална Python среда и прехвърлянето на проектните файлове чрез FTP, като се обръща внимание на правилното конфигуриране на права и сигурност.</a:t>
            </a:r>
          </a:p>
          <a:p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3769752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Заключение и изводи</a:t>
            </a:r>
            <a:endParaRPr lang="bg-BG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156200" y="1175657"/>
            <a:ext cx="5891213" cy="3866605"/>
          </a:xfrm>
          <a:prstGeom prst="rect">
            <a:avLst/>
          </a:prstGeom>
        </p:spPr>
      </p:pic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bg-BG" dirty="0"/>
              <a:t>Реализираният проект демонстрира успешно изграждане на стабилна и сигурна сървърна инфраструктура, която позволява гладко и ефективно функциониране на уеб приложения. Подчертава се значението на съобразяване с добрите практики, правилната настройка и интеграция на различните компоненти за постигане на оптимални резултати в реална работна среда.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32676074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Благодаря за вниманието!</a:t>
            </a:r>
            <a:endParaRPr lang="bg-BG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bg-BG" dirty="0" smtClean="0"/>
              <a:t>Дипломант: Георги Малинов Бистрин 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313075014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Circuit</Template>
  <TotalTime>41</TotalTime>
  <Words>555</Words>
  <Application>Microsoft Office PowerPoint</Application>
  <PresentationFormat>Widescreen</PresentationFormat>
  <Paragraphs>22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Trebuchet MS</vt:lpstr>
      <vt:lpstr>Tw Cen MT</vt:lpstr>
      <vt:lpstr>Circuit</vt:lpstr>
      <vt:lpstr>ДЪРЖАВЕН ИЗПИТ ЗА ПРИДОБИВАНЕ НА ТРЕТА СТЕПЕН НА ПРОФЕСИОНАЛНА КВАЛИФИКАЦИЯ – ЧАСТ ПО ТЕОРИЯ НА ПРОФЕСИЯТА  по професия код 481030   „Приложен програмист“ специалност код код 4810301  „Приоложно програмиране“  </vt:lpstr>
      <vt:lpstr>Въведение и цел на проекта  </vt:lpstr>
      <vt:lpstr>Исторически преглед и значимост на уеб технологиите</vt:lpstr>
      <vt:lpstr>Избор и характеристика на операционна система Ubuntu Server</vt:lpstr>
      <vt:lpstr>Уеб сървър Nginx и WSGI сървър Gunicorn</vt:lpstr>
      <vt:lpstr>Използване на Python и Django за създаване на приложението </vt:lpstr>
      <vt:lpstr>Система за управление на бази данни MySQL и инструмент phpMyAdmin </vt:lpstr>
      <vt:lpstr>Процес на инсталация, конфигурация и деплой на приложението </vt:lpstr>
      <vt:lpstr>Заключение и изводи</vt:lpstr>
      <vt:lpstr>Благодаря за вниманието!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Admin</cp:lastModifiedBy>
  <cp:revision>5</cp:revision>
  <dcterms:created xsi:type="dcterms:W3CDTF">2025-05-13T07:51:27Z</dcterms:created>
  <dcterms:modified xsi:type="dcterms:W3CDTF">2025-05-13T08:33:15Z</dcterms:modified>
</cp:coreProperties>
</file>